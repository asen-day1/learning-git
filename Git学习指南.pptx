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4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Git + GitHub 完全入门指南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99999"/>
                </a:solidFill>
                <a:latin typeface="Microsoft YaHei"/>
              </a:defRPr>
            </a:pPr>
            <a:r>
              <a:t>从零到协作 | 适合零基础小白 |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4572000"/>
            <a:ext cx="3047695" cy="36576"/>
          </a:xfrm>
          <a:prstGeom prst="rect">
            <a:avLst/>
          </a:prstGeom>
          <a:solidFill>
            <a:srgbClr val="E94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Microsoft YaHei"/>
              </a:defRPr>
            </a:pPr>
            <a:r>
              <a:t>学习路线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27432"/>
          </a:xfrm>
          <a:prstGeom prst="rect">
            <a:avLst/>
          </a:prstGeom>
          <a:solidFill>
            <a:srgbClr val="E94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2200" b="0">
                <a:solidFill>
                  <a:srgbClr val="333333"/>
                </a:solidFill>
                <a:latin typeface="Microsoft YaHei"/>
              </a:defRPr>
            </a:pPr>
            <a:r>
              <a:t>  1. 准备工作：安装 Git、配置用户信息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2200" b="0">
                <a:solidFill>
                  <a:srgbClr val="333333"/>
                </a:solidFill>
                <a:latin typeface="Microsoft YaHei"/>
              </a:defRPr>
            </a:pPr>
            <a:r>
              <a:t>  2. SSH 密钥：打通本地 Git 与 GitHub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2200" b="0">
                <a:solidFill>
                  <a:srgbClr val="333333"/>
                </a:solidFill>
                <a:latin typeface="Microsoft YaHei"/>
              </a:defRPr>
            </a:pPr>
            <a:r>
              <a:t>  3. 仓库管理：创建仓库、关联远端、克隆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2200" b="0">
                <a:solidFill>
                  <a:srgbClr val="333333"/>
                </a:solidFill>
                <a:latin typeface="Microsoft YaHei"/>
              </a:defRPr>
            </a:pPr>
            <a:r>
              <a:t>  4. 日常工作流：add -&gt; commit -&gt; push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2200" b="0">
                <a:solidFill>
                  <a:srgbClr val="333333"/>
                </a:solidFill>
                <a:latin typeface="Microsoft YaHei"/>
              </a:defRPr>
            </a:pPr>
            <a:r>
              <a:t>  5. 拉取代码与处理合并冲突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2200" b="0">
                <a:solidFill>
                  <a:srgbClr val="333333"/>
                </a:solidFill>
                <a:latin typeface="Microsoft YaHei"/>
              </a:defRPr>
            </a:pPr>
            <a:r>
              <a:t>  6. 分支协作：Feature Branch + Pull Request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2200" b="0">
                <a:solidFill>
                  <a:srgbClr val="333333"/>
                </a:solidFill>
                <a:latin typeface="Microsoft YaHei"/>
              </a:defRPr>
            </a:pPr>
            <a:r>
              <a:t>  7. 常用命令速查表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2200" b="0">
                <a:solidFill>
                  <a:srgbClr val="333333"/>
                </a:solidFill>
                <a:latin typeface="Microsoft YaHei"/>
              </a:defRPr>
            </a:pPr>
            <a:r>
              <a:t>  8. 常见问题 FAQ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918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准备工作：安装与配置 Git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4572000"/>
            <a:ext cx="2743200" cy="36576"/>
          </a:xfrm>
          <a:prstGeom prst="rect">
            <a:avLst/>
          </a:prstGeom>
          <a:solidFill>
            <a:srgbClr val="E94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33333"/>
                </a:solidFill>
                <a:latin typeface="Microsoft YaHei"/>
              </a:defRPr>
            </a:pPr>
            <a:r>
              <a:t>配置用户信息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6675120" cy="50292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6217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D4D4D4"/>
                </a:solidFill>
                <a:latin typeface="Consolas"/>
              </a:defRPr>
            </a:pPr>
            <a:r>
              <a:t># 检查 Git 是否安装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 git --version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 # 配置用户名和邮箱（必须！）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 git config --global user.name "Sunday"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 git config --global user.email "your@email.com"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 # 查看当前配置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 git config --global --list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28016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--global 表示全局生效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对所有仓库都有效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去掉 --global 则只对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当前仓库生效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用户名和邮箱会记录在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每一次提交中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918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SSH 密钥：打通 Git 与 GitHub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4572000"/>
            <a:ext cx="2743200" cy="36576"/>
          </a:xfrm>
          <a:prstGeom prst="rect">
            <a:avLst/>
          </a:prstGeom>
          <a:solidFill>
            <a:srgbClr val="E94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33333"/>
                </a:solidFill>
                <a:latin typeface="Microsoft YaHei"/>
              </a:defRPr>
            </a:pPr>
            <a:r>
              <a:t>SSH 密钥配置步骤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6675120" cy="50292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6217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D4D4D4"/>
                </a:solidFill>
                <a:latin typeface="Consolas"/>
              </a:defRPr>
            </a:pPr>
            <a:r>
              <a:t># 1. 生成 SSH 密钥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 ssh-keygen -t ed25519 -C "your@email.com"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 # 2. 查看公钥内容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 cat ~/.ssh/id_ed25519.pub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 # 3. 复制公钥添加到 GitHub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 # Settings -&gt; SSH Keys -&gt; New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 # 4. 测试连接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 ssh -T git@github.com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28016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HTTPS vs SSH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HTTPS：每次 push 需要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    输入密码/Token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SSH（推荐）：配置一次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    永久免密，更安全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私钥绝不能泄露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公钥可以放心给 GitHub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918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仓库管理：创建与克隆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4572000"/>
            <a:ext cx="2743200" cy="36576"/>
          </a:xfrm>
          <a:prstGeom prst="rect">
            <a:avLst/>
          </a:prstGeom>
          <a:solidFill>
            <a:srgbClr val="E94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Microsoft YaHei"/>
              </a:defRPr>
            </a:pPr>
            <a:r>
              <a:t>场景一：本地先有代码 -&gt; 推送到 GitHub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27432"/>
          </a:xfrm>
          <a:prstGeom prst="rect">
            <a:avLst/>
          </a:prstGeom>
          <a:solidFill>
            <a:srgbClr val="E94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Step 1:  git init                        # 初始化本地仓库</a:t>
            </a:r>
          </a:p>
          <a:p>
            <a:pPr>
              <a:spcAft>
                <a:spcPts val="40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Step 2:  git add .                       # 暂存所有文件</a:t>
            </a:r>
          </a:p>
          <a:p>
            <a:pPr>
              <a:spcAft>
                <a:spcPts val="40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Step 3:  git commit -m "first commit"    # 提交到本地仓库</a:t>
            </a:r>
          </a:p>
          <a:p>
            <a:pPr>
              <a:spcAft>
                <a:spcPts val="40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Step 4:  在 GitHub 网页上创建空仓库（不要勾选 README）</a:t>
            </a:r>
          </a:p>
          <a:p>
            <a:pPr>
              <a:spcAft>
                <a:spcPts val="40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Step 5:  git remote add origin git@github.com:用户名/仓库.git</a:t>
            </a:r>
          </a:p>
          <a:p>
            <a:pPr>
              <a:spcAft>
                <a:spcPts val="400"/>
              </a:spcAft>
              <a:defRPr sz="1800" b="1">
                <a:solidFill>
                  <a:srgbClr val="2E7D32"/>
                </a:solidFill>
                <a:latin typeface="Microsoft YaHei"/>
              </a:defRPr>
            </a:pPr>
            <a:r>
              <a:t>Step 6:  git push -u origin main         # 推送到 GitHub ！</a:t>
            </a:r>
          </a:p>
          <a:p>
            <a:pPr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2200" b="1">
                <a:solidFill>
                  <a:srgbClr val="333333"/>
                </a:solidFill>
                <a:latin typeface="Microsoft YaHei"/>
              </a:defRPr>
            </a:pPr>
            <a:r>
              <a:t>场景二：GitHub 先有仓库 -&gt; 克隆到本地</a:t>
            </a:r>
          </a:p>
          <a:p>
            <a:pPr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  git clone git@github.com:用户名/仓库.git</a:t>
            </a:r>
          </a:p>
          <a:p>
            <a:pPr>
              <a:spcAft>
                <a:spcPts val="40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  cd 仓库名                               # 已自动关联 remote，直接开发！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918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日常工作流：Git 三大区域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4572000"/>
            <a:ext cx="2743200" cy="36576"/>
          </a:xfrm>
          <a:prstGeom prst="rect">
            <a:avLst/>
          </a:prstGeom>
          <a:solidFill>
            <a:srgbClr val="E94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Microsoft YaHei"/>
              </a:defRPr>
            </a:pPr>
            <a:r>
              <a:t>Git 代码流转全景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27432"/>
          </a:xfrm>
          <a:prstGeom prst="rect">
            <a:avLst/>
          </a:prstGeom>
          <a:solidFill>
            <a:srgbClr val="E94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[Work] --git add--&gt; [Stage] --git commit--&gt; [Repo] --git push--&gt; [GitHub]</a:t>
            </a:r>
          </a:p>
          <a:p/>
          <a:p>
            <a:r>
              <a:t>每日四步:</a:t>
            </a:r>
          </a:p>
          <a:p>
            <a:r>
              <a:t>  git status              查看状态</a:t>
            </a:r>
          </a:p>
          <a:p>
            <a:r>
              <a:t>  git add .               暂存文件</a:t>
            </a:r>
          </a:p>
          <a:p>
            <a:r>
              <a:t>  git commit -m "..."     提交本地</a:t>
            </a:r>
          </a:p>
          <a:p>
            <a:r>
              <a:t>  git push origin main    推送云端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33333"/>
                </a:solidFill>
                <a:latin typeface="Microsoft YaHei"/>
              </a:defRPr>
            </a:pPr>
            <a:r>
              <a:t>标准四步走（每天用得最多）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6675120" cy="50292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6217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# 第1步: 查看状态</a:t>
            </a:r>
          </a:p>
          <a:p>
            <a:r>
              <a:t>git status</a:t>
            </a:r>
          </a:p>
          <a:p/>
          <a:p>
            <a:r>
              <a:t># 第2步: 暂存修改</a:t>
            </a:r>
          </a:p>
          <a:p>
            <a:r>
              <a:t>git add hello.py     # 单文件</a:t>
            </a:r>
          </a:p>
          <a:p>
            <a:r>
              <a:t>git add .            # 全部</a:t>
            </a:r>
          </a:p>
          <a:p/>
          <a:p>
            <a:r>
              <a:t># 第3步: 提交</a:t>
            </a:r>
          </a:p>
          <a:p>
            <a:r>
              <a:t>git commit -m "feat: 添加登录"</a:t>
            </a:r>
          </a:p>
          <a:p>
            <a:r>
              <a:t>git commit -m "fix: 修复崩溃"</a:t>
            </a:r>
          </a:p>
          <a:p/>
          <a:p>
            <a:r>
              <a:t># 第4步: 推送</a:t>
            </a:r>
          </a:p>
          <a:p>
            <a:r>
              <a:t>git push origin 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28016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提交前缀:</a:t>
            </a:r>
          </a:p>
          <a:p/>
          <a:p>
            <a:r>
              <a:t>feat     新功能</a:t>
            </a:r>
          </a:p>
          <a:p>
            <a:r>
              <a:t>fix      修Bug</a:t>
            </a:r>
          </a:p>
          <a:p>
            <a:r>
              <a:t>docs     文档</a:t>
            </a:r>
          </a:p>
          <a:p>
            <a:r>
              <a:t>refactor 重构</a:t>
            </a:r>
          </a:p>
          <a:p>
            <a:r>
              <a:t>style    格式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918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拉取代码与处理冲突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4572000"/>
            <a:ext cx="2743200" cy="36576"/>
          </a:xfrm>
          <a:prstGeom prst="rect">
            <a:avLst/>
          </a:prstGeom>
          <a:solidFill>
            <a:srgbClr val="E94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Microsoft YaHei"/>
              </a:defRPr>
            </a:pPr>
            <a:r>
              <a:t>拉取 + 冲突详解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27432"/>
          </a:xfrm>
          <a:prstGeom prst="rect">
            <a:avLst/>
          </a:prstGeom>
          <a:solidFill>
            <a:srgbClr val="E94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333333"/>
                </a:solidFill>
                <a:latin typeface="Microsoft YaHei"/>
              </a:defRPr>
            </a:pPr>
            <a:r>
              <a:t>拉取代码的两种方式：</a:t>
            </a:r>
          </a:p>
          <a:p>
            <a:pPr>
              <a:spcAft>
                <a:spcPts val="400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  git fetch origin            # 只下载，不合并（安全，可以先用这个看看）</a:t>
            </a:r>
          </a:p>
          <a:p>
            <a:pPr>
              <a:spcAft>
                <a:spcPts val="400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  git pull origin main        # 下载 + 自动合并（= fetch + merge 二合一）</a:t>
            </a:r>
          </a:p>
          <a:p>
            <a:pPr>
              <a:spcAft>
                <a:spcPts val="400"/>
              </a:spcAft>
              <a:defRPr sz="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2200" b="1">
                <a:solidFill>
                  <a:srgbClr val="E94D3C"/>
                </a:solidFill>
                <a:latin typeface="Microsoft YaHei"/>
              </a:defRPr>
            </a:pPr>
            <a:r>
              <a:t>冲突是怎么发生的？</a:t>
            </a:r>
          </a:p>
          <a:p>
            <a:pPr>
              <a:spcAft>
                <a:spcPts val="400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  两个人修改了「同一个文件的同一行」，Git 不知道该保留谁的 -&gt; 产生冲突</a:t>
            </a:r>
          </a:p>
          <a:p>
            <a:pPr>
              <a:spcAft>
                <a:spcPts val="400"/>
              </a:spcAft>
              <a:defRPr sz="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2200" b="1">
                <a:solidFill>
                  <a:srgbClr val="2E7D32"/>
                </a:solidFill>
                <a:latin typeface="Microsoft YaHei"/>
              </a:defRPr>
            </a:pPr>
            <a:r>
              <a:t>解决冲突三步走：</a:t>
            </a:r>
          </a:p>
          <a:p>
            <a:pPr>
              <a:spcAft>
                <a:spcPts val="400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  1) 打开冲突文件，找到 &lt;&lt;&lt;&lt;&lt;&lt;&lt; HEAD / ======= / &gt;&gt;&gt;&gt;&gt;&gt;&gt; 三行标记</a:t>
            </a:r>
          </a:p>
          <a:p>
            <a:pPr>
              <a:spcAft>
                <a:spcPts val="400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  2) 手动删除这三行标记，选择保留你需要的代码</a:t>
            </a:r>
          </a:p>
          <a:p>
            <a:pPr>
              <a:spcAft>
                <a:spcPts val="400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  3) git add . -&gt; git commit -m "merge: 解决xxx冲突" -&gt; git push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记住：冲突不可怕，它只是让你做一次选择 -- 保留谁的改动。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33333"/>
                </a:solidFill>
                <a:latin typeface="Microsoft YaHei"/>
              </a:defRPr>
            </a:pPr>
            <a:r>
              <a:t>冲突文件长什么样？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6675120" cy="50292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6217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D4D4D4"/>
                </a:solidFill>
                <a:latin typeface="Consolas"/>
              </a:defRPr>
            </a:pPr>
            <a:r>
              <a:t># 冲突后，文件变成这样：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 &lt;&lt;&lt;&lt;&lt;&lt;&lt; HEAD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 # Hello Git World（你本地版本）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 =======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 # My Git Learning Journey（远端版本）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 &gt;&gt;&gt;&gt;&gt;&gt;&gt; c16e03c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 # 解决后 -- 删除标记，保留需要的：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 # Hello Git World - 我的第一个项目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 # 然后完成合并：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 git add .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 git commit -m "merge: 解决README冲突"</a:t>
            </a:r>
          </a:p>
          <a:p>
            <a:pPr>
              <a:spcAft>
                <a:spcPts val="200"/>
              </a:spcAft>
              <a:defRPr sz="1300">
                <a:solidFill>
                  <a:srgbClr val="D4D4D4"/>
                </a:solidFill>
                <a:latin typeface="Consolas"/>
              </a:defRPr>
            </a:pPr>
            <a:r>
              <a:t> git push origin 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28016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冲突标记解读：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&lt;&lt;&lt;&lt;&lt;&lt;&lt; HEAD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到 =======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是「你本地的版本」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=======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到 &gt;&gt;&gt;&gt;&gt;&gt;&gt; commit-id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是「远端的版本」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删掉这三行标记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保留需要的代码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冲突就解决了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就是这么简单！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918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分支协作：Feature Branch + Pull Request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4572000"/>
            <a:ext cx="2743200" cy="36576"/>
          </a:xfrm>
          <a:prstGeom prst="rect">
            <a:avLst/>
          </a:prstGeom>
          <a:solidFill>
            <a:srgbClr val="E94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Microsoft YaHei"/>
              </a:defRPr>
            </a:pPr>
            <a:r>
              <a:t>分支协作 -- 团队开发核心技能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27432"/>
          </a:xfrm>
          <a:prstGeom prst="rect">
            <a:avLst/>
          </a:prstGeom>
          <a:solidFill>
            <a:srgbClr val="E94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333333"/>
                </a:solidFill>
                <a:latin typeface="Microsoft YaHei"/>
              </a:defRPr>
            </a:pPr>
            <a:r>
              <a:t>为什么需要分支？main 保持稳定，功能在分支上开发，互不干扰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  main:    ----O-----------O----  稳定可发布</a:t>
            </a:r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                \         /</a:t>
            </a:r>
          </a:p>
          <a:p>
            <a:pPr>
              <a:spcAft>
                <a:spcPts val="400"/>
              </a:spcAft>
              <a:defRPr sz="1600" b="0">
                <a:solidFill>
                  <a:srgbClr val="E94D3C"/>
                </a:solidFill>
                <a:latin typeface="Microsoft YaHei"/>
              </a:defRPr>
            </a:pPr>
            <a:r>
              <a:t>  feature:       O---O---         新功能开发中</a:t>
            </a:r>
          </a:p>
          <a:p>
            <a:pPr>
              <a:spcAft>
                <a:spcPts val="400"/>
              </a:spcAft>
              <a:defRPr sz="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2200" b="1">
                <a:solidFill>
                  <a:srgbClr val="E94D3C"/>
                </a:solidFill>
                <a:latin typeface="Microsoft YaHei"/>
              </a:defRPr>
            </a:pPr>
            <a:r>
              <a:t>分支协作完整流程（8步）：</a:t>
            </a:r>
          </a:p>
          <a:p>
            <a:pPr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  1. git checkout -b feature-xxx     # 创建并切换到功能分支</a:t>
            </a:r>
          </a:p>
          <a:p>
            <a:pPr>
              <a:spcAft>
                <a:spcPts val="400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  2. 写代码... git add ... git commit</a:t>
            </a:r>
          </a:p>
          <a:p>
            <a:pPr>
              <a:spcAft>
                <a:spcPts val="400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  3. git push -u origin feature-xxx  # 推送分支到 GitHub</a:t>
            </a:r>
          </a:p>
          <a:p>
            <a:pPr>
              <a:spcAft>
                <a:spcPts val="400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  4. 在 GitHub 上创建 Pull Request (PR)</a:t>
            </a:r>
          </a:p>
          <a:p>
            <a:pPr>
              <a:spcAft>
                <a:spcPts val="400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  5. 队友 Code Review -&gt; 讨论 -&gt; 修改 -&gt; 再push</a:t>
            </a:r>
          </a:p>
          <a:p>
            <a:pPr>
              <a:spcAft>
                <a:spcPts val="400"/>
              </a:spcAft>
              <a:defRPr sz="1700" b="1">
                <a:solidFill>
                  <a:srgbClr val="2E7D32"/>
                </a:solidFill>
                <a:latin typeface="Microsoft YaHei"/>
              </a:defRPr>
            </a:pPr>
            <a:r>
              <a:t>  6. 审查通过，点击 Merge PR -&gt; 代码合并到 main！</a:t>
            </a:r>
          </a:p>
          <a:p>
            <a:pPr>
              <a:spcAft>
                <a:spcPts val="400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  7. git checkout main &amp;&amp; git pull   # 同步本地 main 到最新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Microsoft YaHei"/>
              </a:defRPr>
            </a:pPr>
            <a:r>
              <a:t>分支协作 -- 团队开发核心技能 (续2)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27432"/>
          </a:xfrm>
          <a:prstGeom prst="rect">
            <a:avLst/>
          </a:prstGeom>
          <a:solidFill>
            <a:srgbClr val="E94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  8. git branch -d feature-xxx       # 删除已完成的分支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918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常用命令速查表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4572000"/>
            <a:ext cx="2743200" cy="36576"/>
          </a:xfrm>
          <a:prstGeom prst="rect">
            <a:avLst/>
          </a:prstGeom>
          <a:solidFill>
            <a:srgbClr val="E94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Microsoft YaHei"/>
              </a:defRPr>
            </a:pPr>
            <a:r>
              <a:t>日常高频命令（按使用频率排序）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27432"/>
          </a:xfrm>
          <a:prstGeom prst="rect">
            <a:avLst/>
          </a:prstGeom>
          <a:solidFill>
            <a:srgbClr val="E94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每天必用:</a:t>
            </a:r>
          </a:p>
          <a:p>
            <a:r>
              <a:t>  git status                  查看状态</a:t>
            </a:r>
          </a:p>
          <a:p>
            <a:r>
              <a:t>  git add .                   暂存全部</a:t>
            </a:r>
          </a:p>
          <a:p>
            <a:r>
              <a:t>  git commit -m "..."         提交</a:t>
            </a:r>
          </a:p>
          <a:p>
            <a:r>
              <a:t>  git push origin main        推送</a:t>
            </a:r>
          </a:p>
          <a:p>
            <a:r>
              <a:t>  git pull origin main        拉取</a:t>
            </a:r>
          </a:p>
          <a:p/>
          <a:p>
            <a:r>
              <a:t>常用:</a:t>
            </a:r>
          </a:p>
          <a:p>
            <a:r>
              <a:t>  git log --oneline --graph   历史树</a:t>
            </a:r>
          </a:p>
          <a:p>
            <a:r>
              <a:t>  git diff                    查看改动</a:t>
            </a:r>
          </a:p>
          <a:p>
            <a:r>
              <a:t>  git checkout -b &lt;name&gt;      新建分支</a:t>
            </a:r>
          </a:p>
          <a:p>
            <a:r>
              <a:t>  git checkout main           切换分支</a:t>
            </a:r>
          </a:p>
          <a:p/>
          <a:p>
            <a:r>
              <a:t>撤销:</a:t>
            </a:r>
          </a:p>
          <a:p>
            <a:r>
              <a:t>  git restore &lt;file&gt;          撤销修改</a:t>
            </a:r>
          </a:p>
          <a:p>
            <a:r>
              <a:t>  git restore --staged &lt;file&gt; 取消暂存</a:t>
            </a:r>
          </a:p>
          <a:p>
            <a:r>
              <a:t>  git reset --soft HEAD~1     撤销commit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Microsoft YaHei"/>
              </a:defRPr>
            </a:pPr>
            <a:r>
              <a:t>分支管理 + 撤销操作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27432"/>
          </a:xfrm>
          <a:prstGeom prst="rect">
            <a:avLst/>
          </a:prstGeom>
          <a:solidFill>
            <a:srgbClr val="E94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分支管理:</a:t>
            </a:r>
          </a:p>
          <a:p>
            <a:r>
              <a:t>  git branch -a               查看所有</a:t>
            </a:r>
          </a:p>
          <a:p>
            <a:r>
              <a:t>  git checkout -b feature-x   新建+切换</a:t>
            </a:r>
          </a:p>
          <a:p>
            <a:r>
              <a:t>  git checkout main           切回主分支</a:t>
            </a:r>
          </a:p>
          <a:p>
            <a:r>
              <a:t>  git merge feature-x         合并</a:t>
            </a:r>
          </a:p>
          <a:p>
            <a:r>
              <a:t>  git branch -d feature-x     删除本地</a:t>
            </a:r>
          </a:p>
          <a:p>
            <a:r>
              <a:t>  git push origin --delete f  删除远程</a:t>
            </a:r>
          </a:p>
          <a:p/>
          <a:p>
            <a:r>
              <a:t>救命四招:</a:t>
            </a:r>
          </a:p>
          <a:p>
            <a:r>
              <a:t>  git restore &lt;file&gt;          撤销工作区修改</a:t>
            </a:r>
          </a:p>
          <a:p>
            <a:r>
              <a:t>  git restore --staged &lt;file&gt; 取消暂存</a:t>
            </a:r>
          </a:p>
          <a:p>
            <a:r>
              <a:t>  git reset --soft HEAD~1     撤销commit(保留改动)</a:t>
            </a:r>
          </a:p>
          <a:p>
            <a:r>
              <a:t>  git reset --hard HEAD~1     彻底撤销(谨慎!)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918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常见问题 FAQ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4572000"/>
            <a:ext cx="2743200" cy="36576"/>
          </a:xfrm>
          <a:prstGeom prst="rect">
            <a:avLst/>
          </a:prstGeom>
          <a:solidFill>
            <a:srgbClr val="E94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Microsoft YaHei"/>
              </a:defRPr>
            </a:pPr>
            <a:r>
              <a:t>新手高频问题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27432"/>
          </a:xfrm>
          <a:prstGeom prst="rect">
            <a:avLst/>
          </a:prstGeom>
          <a:solidFill>
            <a:srgbClr val="E94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Q1: push 时 Permission denied?</a:t>
            </a:r>
          </a:p>
          <a:p>
            <a:r>
              <a:t>  -&gt; 测试: ssh -T git@github.com</a:t>
            </a:r>
          </a:p>
          <a:p>
            <a:r>
              <a:t>  -&gt; 重新生成密钥并添加到 GitHub</a:t>
            </a:r>
          </a:p>
          <a:p/>
          <a:p>
            <a:r>
              <a:t>Q2: 忘记 .gitignore?</a:t>
            </a:r>
          </a:p>
          <a:p>
            <a:r>
              <a:t>  -&gt; git rm --cached 文件名</a:t>
            </a:r>
          </a:p>
          <a:p>
            <a:r>
              <a:t>  -&gt; echo "文件" &gt;&gt; .gitignore</a:t>
            </a:r>
          </a:p>
          <a:p/>
          <a:p>
            <a:r>
              <a:t>Q3: commit 信息写错了?</a:t>
            </a:r>
          </a:p>
          <a:p>
            <a:r>
              <a:t>  -&gt; git commit --amend -m "新信息"</a:t>
            </a:r>
          </a:p>
          <a:p>
            <a:r>
              <a:t>  -&gt; 已推送加: --force-with-lease</a:t>
            </a:r>
          </a:p>
          <a:p/>
          <a:p>
            <a:r>
              <a:t>Q4: 同时开发多个功能?</a:t>
            </a:r>
          </a:p>
          <a:p>
            <a:r>
              <a:t>  -&gt; 每个功能开一个分支</a:t>
            </a:r>
          </a:p>
          <a:p>
            <a:r>
              <a:t>  -&gt; 各自独立开发，分别提 PR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Microsoft YaHei"/>
              </a:defRPr>
            </a:pPr>
            <a:r>
              <a:t>新手高频问题 (2/2)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27432"/>
          </a:xfrm>
          <a:prstGeom prst="rect">
            <a:avLst/>
          </a:prstGeom>
          <a:solidFill>
            <a:srgbClr val="E94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E94D3C"/>
                </a:solidFill>
                <a:latin typeface="Microsoft YaHei"/>
              </a:defRPr>
            </a:pPr>
            <a:r>
              <a:t>Q4: main 和 master 有什么区别？</a:t>
            </a:r>
          </a:p>
          <a:p>
            <a:pPr>
              <a:spcAft>
                <a:spcPts val="400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    -&gt; 只是名字不同，没有技术区别</a:t>
            </a:r>
          </a:p>
          <a:p>
            <a:pPr>
              <a:spcAft>
                <a:spcPts val="400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    -&gt; GitHub 现在默认用 main，旧项目或旧版本 Git 可能叫 master</a:t>
            </a:r>
          </a:p>
          <a:p>
            <a:pPr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E94D3C"/>
                </a:solidFill>
                <a:latin typeface="Microsoft YaHei"/>
              </a:defRPr>
            </a:pPr>
            <a:r>
              <a:t>Q5: 怎么同时开发多个功能？</a:t>
            </a:r>
          </a:p>
          <a:p>
            <a:pPr>
              <a:spcAft>
                <a:spcPts val="400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    -&gt; 每个功能开一个分支：feature-A、feature-B、fix-bug</a:t>
            </a:r>
          </a:p>
          <a:p>
            <a:pPr>
              <a:spcAft>
                <a:spcPts val="400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    -&gt; 各分支独立开发、独立提交、独立发 PR，互不干扰</a:t>
            </a:r>
          </a:p>
          <a:p>
            <a:pPr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E94D3C"/>
                </a:solidFill>
                <a:latin typeface="Microsoft YaHei"/>
              </a:defRPr>
            </a:pPr>
            <a:r>
              <a:t>Q6: 什么是 .gitignore？</a:t>
            </a:r>
          </a:p>
          <a:p>
            <a:pPr>
              <a:spcAft>
                <a:spcPts val="400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    -&gt; 告诉 Git 哪些文件/目录不参与版本控制</a:t>
            </a:r>
          </a:p>
          <a:p>
            <a:pPr>
              <a:spcAft>
                <a:spcPts val="400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    -&gt; 常见：__pycache__/、.vscode/、.env、node_modules/、*.log 等</a:t>
            </a:r>
          </a:p>
          <a:p>
            <a:pPr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E94D3C"/>
                </a:solidFill>
                <a:latin typeface="Microsoft YaHei"/>
              </a:defRPr>
            </a:pPr>
            <a:r>
              <a:t>Q7: git fetch 和 git pull 到底有什么区别？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Microsoft YaHei"/>
              </a:defRPr>
            </a:pPr>
            <a:r>
              <a:t>新手高频问题 (2/2) (续2)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27432"/>
          </a:xfrm>
          <a:prstGeom prst="rect">
            <a:avLst/>
          </a:prstGeom>
          <a:solidFill>
            <a:srgbClr val="E94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    -&gt; fetch：只下载远端更新，不合并（安全，可以先检查）</a:t>
            </a:r>
          </a:p>
          <a:p>
            <a:pPr>
              <a:spcAft>
                <a:spcPts val="400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    -&gt; pull：下载 + 自动合并（= fetch + merge，方便但可能冲突）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4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/>
              <a:t>恭喜你学完了！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/>
              <a:t>你已经掌握了 Git + GitHub 的核心操作！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9418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记住三点：</a:t>
            </a:r>
          </a:p>
          <a:p>
            <a:r>
              <a:rPr sz="1400"/>
              <a:t>1. git status 是你最好的朋友</a:t>
            </a:r>
          </a:p>
          <a:p>
            <a:r>
              <a:rPr sz="1400"/>
              <a:t>2. git log --oneline --graph 让你知道自己在哪</a:t>
            </a:r>
          </a:p>
          <a:p>
            <a:r>
              <a:rPr sz="1400"/>
              <a:t>3. 只要 commit 过，Git 就能找回来</a:t>
            </a:r>
          </a:p>
          <a:p/>
          <a:p>
            <a:r>
              <a:rPr sz="1400"/>
              <a:t>配套文档：Git学习指南.md / Git速查卡.md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